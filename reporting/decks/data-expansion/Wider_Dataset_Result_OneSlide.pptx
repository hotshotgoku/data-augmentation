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r>
              <a:rPr sz="2500" b="1" i="0">
                <a:solidFill>
                  <a:srgbClr val="E9EAEC"/>
                </a:solidFill>
                <a:latin typeface="Helvetica Neue"/>
              </a:rPr>
              <a:t>Does the augmenter's edge generalize?  </a:t>
            </a:r>
            <a:r>
              <a:rPr sz="2500" b="1" i="0">
                <a:solidFill>
                  <a:srgbClr val="86EFAC"/>
                </a:solidFill>
                <a:latin typeface="Helvetica Neue"/>
              </a:rPr>
              <a:t>Only where it's faithful to the label.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11521440" cy="3200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r>
              <a:rPr sz="1250" b="0" i="0">
                <a:solidFill>
                  <a:srgbClr val="9AA0A6"/>
                </a:solidFill>
                <a:latin typeface="Helvetica Neue"/>
              </a:rPr>
              <a:t>Wider-dataset test — 2 new datasets + a strengthen check. Generative augmentation beats rotation on faithful axes; ties or loses where its synthetic variation distorts the label.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78198"/>
            <a:ext cx="621792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r>
              <a:rPr sz="1050" b="1" i="0" dirty="0">
                <a:solidFill>
                  <a:srgbClr val="FCA5A5"/>
                </a:solidFill>
                <a:latin typeface="Helvetica Neue"/>
              </a:rPr>
              <a:t>WHY — the synth are realistic but LABEL-UNFAITHFUL (seeing is believing)</a:t>
            </a:r>
          </a:p>
        </p:txBody>
      </p:sp>
      <p:pic>
        <p:nvPicPr>
          <p:cNvPr id="5" name="Picture 4" descr="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32817"/>
            <a:ext cx="6263640" cy="45067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914400"/>
            <a:ext cx="5257800" cy="23774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r>
              <a:rPr sz="1050" b="1" i="0">
                <a:solidFill>
                  <a:srgbClr val="7DD3FC"/>
                </a:solidFill>
                <a:latin typeface="Helvetica Neue"/>
              </a:rPr>
              <a:t>THE RESULT — downstream Δ vs rotation, per dataset (paired, 15 seeds)</a:t>
            </a:r>
          </a:p>
        </p:txBody>
      </p:sp>
      <p:pic>
        <p:nvPicPr>
          <p:cNvPr id="7" name="Picture 6" descr="boundary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214981"/>
            <a:ext cx="5303520" cy="236149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3767328"/>
            <a:ext cx="5257800" cy="2907792"/>
          </a:xfrm>
          <a:prstGeom prst="roundRect">
            <a:avLst/>
          </a:prstGeom>
          <a:solidFill>
            <a:srgbClr val="15171C"/>
          </a:solidFill>
          <a:ln w="12700">
            <a:solidFill>
              <a:srgbClr val="2A2D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46304" bIns="91440" rtlCol="0" anchor="ctr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9AA0A6"/>
                </a:solidFill>
                <a:latin typeface="Helvetica Neue"/>
              </a:rPr>
              <a:t>VERDICT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86EFAC"/>
                </a:solidFill>
                <a:latin typeface="Helvetica Neue"/>
              </a:rPr>
              <a:t>Axis-specific, not general.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E9EAEC"/>
                </a:solidFill>
                <a:latin typeface="Helvetica Neue"/>
              </a:rPr>
              <a:t>WINS where synth tracks the label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86EFAC"/>
                </a:solidFill>
                <a:latin typeface="Helvetica Neue"/>
              </a:rPr>
              <a:t>branching shape +0.052  ·  mux aTc +0.045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E9EAEC"/>
                </a:solidFill>
                <a:latin typeface="Helvetica Neue"/>
              </a:rPr>
              <a:t>TIES / LOSES where synth distorts it</a:t>
            </a:r>
          </a:p>
          <a:p>
            <a:pPr>
              <a:spcAft>
                <a:spcPts val="600"/>
              </a:spcAft>
            </a:pPr>
            <a:r>
              <a:rPr sz="950" b="0" i="0">
                <a:solidFill>
                  <a:srgbClr val="FCA5A5"/>
                </a:solidFill>
                <a:latin typeface="Helvetica Neue"/>
              </a:rPr>
              <a:t>KL ratio −0.001  ·  rattray strain −0.108  ·  mux IPTG −0.022</a:t>
            </a:r>
          </a:p>
          <a:p>
            <a:pPr>
              <a:spcAft>
                <a:spcPts val="600"/>
              </a:spcAft>
            </a:pPr>
            <a:r>
              <a:rPr sz="900" b="0" i="0">
                <a:solidFill>
                  <a:srgbClr val="9AA0A6"/>
                </a:solidFill>
                <a:latin typeface="Helvetica Neue"/>
              </a:rPr>
              <a:t>Mechanism: the augmenter regresses toward the mean colony and loses the extreme label value; rotation is label-invariant, so it preserves the label exactly.</a:t>
            </a:r>
          </a:p>
          <a:p>
            <a:r>
              <a:rPr sz="950" b="0" i="1">
                <a:solidFill>
                  <a:srgbClr val="7DD3FC"/>
                </a:solidFill>
                <a:latin typeface="Helvetica Neue"/>
              </a:rPr>
              <a:t>A boundary condition — maps where the method helps, and why.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 Neue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Sarthak Agrawal</cp:lastModifiedBy>
  <cp:revision>2</cp:revision>
  <dcterms:created xsi:type="dcterms:W3CDTF">2013-01-27T09:14:16Z</dcterms:created>
  <dcterms:modified xsi:type="dcterms:W3CDTF">2026-10-15T11:10:25Z</dcterms:modified>
  <cp:category/>
</cp:coreProperties>
</file>