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7548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r>
              <a:rPr sz="2700" b="1" i="0">
                <a:solidFill>
                  <a:srgbClr val="E9EAEC"/>
                </a:solidFill>
                <a:latin typeface="Helvetica Neue"/>
              </a:rPr>
              <a:t>Best augmenter = an in-domain SD1.5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1152144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r>
              <a:rPr sz="1200" b="0" i="0">
                <a:solidFill>
                  <a:srgbClr val="9AA0A6"/>
                </a:solidFill>
                <a:latin typeface="Helvetica Neue"/>
              </a:rPr>
              <a:t>Exhaustive backbone search across two colony domains — </a:t>
            </a:r>
            <a:r>
              <a:rPr sz="1200" b="1" i="0">
                <a:solidFill>
                  <a:srgbClr val="86EFAC"/>
                </a:solidFill>
                <a:latin typeface="Helvetica Neue"/>
              </a:rPr>
              <a:t>nothing newer beats it</a:t>
            </a:r>
            <a:r>
              <a:rPr sz="1200" b="0" i="0">
                <a:solidFill>
                  <a:srgbClr val="9AA0A6"/>
                </a:solidFill>
                <a:latin typeface="Helvetica Neue"/>
              </a:rPr>
              <a:t>, and conditioning-dropout SD1.5 is the only augmenter that beats plain rotation on the metric that matters.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77824"/>
            <a:ext cx="11521440" cy="20116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r>
              <a:rPr sz="1000" b="1" i="0">
                <a:solidFill>
                  <a:srgbClr val="7DD3FC"/>
                </a:solidFill>
                <a:latin typeface="Helvetica Neue"/>
              </a:rPr>
              <a:t>EVERY MODEL (columns)  ×  EVERY DATASET (rows) — now complete on both domains, aligned to one source condition</a:t>
            </a:r>
          </a:p>
        </p:txBody>
      </p:sp>
      <p:pic>
        <p:nvPicPr>
          <p:cNvPr id="5" name="Picture 4" descr="backbon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079156"/>
            <a:ext cx="10296144" cy="29714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096512"/>
            <a:ext cx="4041648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r>
              <a:rPr sz="1100" b="1" i="0">
                <a:solidFill>
                  <a:srgbClr val="86EFAC"/>
                </a:solidFill>
                <a:latin typeface="Helvetica Neue"/>
              </a:rPr>
              <a:t>①  THE WIN — rotation vs generative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4096512"/>
            <a:ext cx="3931920" cy="23774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r>
              <a:rPr sz="1100" b="1" i="0">
                <a:solidFill>
                  <a:srgbClr val="7DD3FC"/>
                </a:solidFill>
                <a:latin typeface="Helvetica Neue"/>
              </a:rPr>
              <a:t>②  PRESENTATION — standardized dishes</a:t>
            </a:r>
          </a:p>
        </p:txBody>
      </p:sp>
      <p:pic>
        <p:nvPicPr>
          <p:cNvPr id="8" name="Picture 7" descr="difference_dropout_vs_ro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10" y="4370832"/>
            <a:ext cx="4039506" cy="2377440"/>
          </a:xfrm>
          <a:prstGeom prst="rect">
            <a:avLst/>
          </a:prstGeom>
        </p:spPr>
      </p:pic>
      <p:pic>
        <p:nvPicPr>
          <p:cNvPr id="9" name="Picture 8" descr="composite_show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8915" y="4370832"/>
            <a:ext cx="3926649" cy="23774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59368" y="4041648"/>
            <a:ext cx="3255264" cy="2724912"/>
          </a:xfrm>
          <a:prstGeom prst="roundRect">
            <a:avLst/>
          </a:prstGeom>
          <a:solidFill>
            <a:srgbClr val="1517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9AA0A6"/>
                </a:solidFill>
                <a:latin typeface="Helvetica Neue"/>
              </a:rPr>
              <a:t>③  VERDICT</a:t>
            </a:r>
          </a:p>
          <a:p>
            <a:pPr>
              <a:spcAft>
                <a:spcPts val="100"/>
              </a:spcAft>
            </a:pPr>
            <a:r>
              <a:rPr sz="1250" b="1" i="0">
                <a:solidFill>
                  <a:srgbClr val="86EFAC"/>
                </a:solidFill>
                <a:latin typeface="Helvetica Neue"/>
              </a:rPr>
              <a:t>Best overall: in-domain SD1.5</a:t>
            </a:r>
          </a:p>
          <a:p>
            <a:pPr>
              <a:spcAft>
                <a:spcPts val="500"/>
              </a:spcAft>
            </a:pPr>
            <a:r>
              <a:rPr sz="950" b="0" i="0">
                <a:solidFill>
                  <a:srgbClr val="9AA0A6"/>
                </a:solidFill>
                <a:latin typeface="Helvetica Neue"/>
              </a:rPr>
              <a:t>(conditioning-dropout, s1.0/g7)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E9EAEC"/>
                </a:solidFill>
                <a:latin typeface="Helvetica Neue"/>
              </a:rPr>
              <a:t>Branching image CMMD  (lower = better)</a:t>
            </a:r>
          </a:p>
          <a:p>
            <a:pPr>
              <a:spcAft>
                <a:spcPts val="500"/>
              </a:spcAft>
            </a:pPr>
            <a:r>
              <a:rPr sz="950" b="1" i="0">
                <a:solidFill>
                  <a:srgbClr val="86EFAC"/>
                </a:solidFill>
                <a:latin typeface="Helvetica Neue"/>
              </a:rPr>
              <a:t>SD1.5 3.2</a:t>
            </a:r>
            <a:r>
              <a:rPr sz="950" b="0" i="0">
                <a:solidFill>
                  <a:srgbClr val="9AA0A6"/>
                </a:solidFill>
                <a:latin typeface="Helvetica Neue"/>
              </a:rPr>
              <a:t>  ·  Flux 4.8  ·  DDPM 9.8  ·  GAN 15.4  ·  </a:t>
            </a:r>
            <a:r>
              <a:rPr sz="950" b="0" i="0">
                <a:solidFill>
                  <a:srgbClr val="FCA5A5"/>
                </a:solidFill>
                <a:latin typeface="Helvetica Neue"/>
              </a:rPr>
              <a:t>PixCell 49.8  ·  zero-shot 71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E9EAEC"/>
                </a:solidFill>
                <a:latin typeface="Helvetica Neue"/>
              </a:rPr>
              <a:t>Only model to beat rotation (downstream)</a:t>
            </a:r>
          </a:p>
          <a:p>
            <a:pPr>
              <a:spcAft>
                <a:spcPts val="300"/>
              </a:spcAft>
            </a:pPr>
            <a:r>
              <a:rPr sz="950" b="1" i="0">
                <a:solidFill>
                  <a:srgbClr val="86EFAC"/>
                </a:solidFill>
                <a:latin typeface="Helvetica Neue"/>
              </a:rPr>
              <a:t>shape_factor +0.05</a:t>
            </a:r>
            <a:r>
              <a:rPr sz="950" b="0" i="0">
                <a:solidFill>
                  <a:srgbClr val="9AA0A6"/>
                </a:solidFill>
                <a:latin typeface="Helvetica Neue"/>
              </a:rPr>
              <a:t> (branching)  ·  </a:t>
            </a:r>
            <a:r>
              <a:rPr sz="950" b="1" i="0">
                <a:solidFill>
                  <a:srgbClr val="86EFAC"/>
                </a:solidFill>
                <a:latin typeface="Helvetica Neue"/>
              </a:rPr>
              <a:t>aTc decode +0.045</a:t>
            </a:r>
            <a:r>
              <a:rPr sz="950" b="0" i="0">
                <a:solidFill>
                  <a:srgbClr val="9AA0A6"/>
                </a:solidFill>
                <a:latin typeface="Helvetica Neue"/>
              </a:rPr>
              <a:t> (multiplexed)</a:t>
            </a:r>
          </a:p>
          <a:p>
            <a:pPr>
              <a:spcAft>
                <a:spcPts val="500"/>
              </a:spcAft>
            </a:pPr>
            <a:r>
              <a:rPr sz="850" b="0" i="0">
                <a:solidFill>
                  <a:srgbClr val="E9EAEC"/>
                </a:solidFill>
                <a:latin typeface="Helvetica Neue"/>
              </a:rPr>
              <a:t>Multiplexed image CMMD: dropout 7.97 beats in-domain 12.6 too.</a:t>
            </a:r>
          </a:p>
          <a:p>
            <a:r>
              <a:rPr sz="950" b="0" i="1">
                <a:solidFill>
                  <a:srgbClr val="7DD3FC"/>
                </a:solidFill>
                <a:latin typeface="Helvetica Neue"/>
              </a:rPr>
              <a:t>“Newer backbone” never won; smarter diversity on SD1.5 did.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