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9EAEC"/>
                </a:solidFill>
                <a:latin typeface="Calibri"/>
              </a:rPr>
              <a:t>Augmenter backbone bake-off: SD1.5 vs PixCell (256 / 1024)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92608"/>
            <a:ext cx="3502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B7076"/>
                </a:solidFill>
                <a:latin typeface="Calibri"/>
              </a:rPr>
              <a:t>Sarthak · 2026-09-24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  <a:latin typeface="Calibri"/>
              </a:rPr>
              <a:t>Key finding:  </a:t>
            </a:r>
            <a:r>
              <a:rPr sz="1350" b="0">
                <a:solidFill>
                  <a:srgbClr val="9AA0A6"/>
                </a:solidFill>
                <a:latin typeface="Calibri"/>
              </a:rPr>
              <a:t>downstream usefulness is gated by DIVERSITY, not per-sample realism, and diversity trades off against realism. No candidate backbone beats SD1.5 for the production goal.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Multiplexed — 256px (domain with downstream labels)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5486400" cy="8229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097280"/>
                <a:gridCol w="1097280"/>
                <a:gridCol w="1097280"/>
              </a:tblGrid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9EAEC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4008" marR="45720" marT="13716" marB="13716" anchor="ctr"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9EAEC"/>
                          </a:solidFill>
                          <a:latin typeface="Calibri"/>
                        </a:rPr>
                        <a:t>realism ↓</a:t>
                      </a:r>
                    </a:p>
                  </a:txBody>
                  <a:tcPr marL="64008" marR="45720" marT="13716" marB="13716" anchor="ctr"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9EAEC"/>
                          </a:solidFill>
                          <a:latin typeface="Calibri"/>
                        </a:rPr>
                        <a:t>CMMD ↓</a:t>
                      </a:r>
                    </a:p>
                  </a:txBody>
                  <a:tcPr marL="64008" marR="45720" marT="13716" marB="13716" anchor="ctr"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9EAEC"/>
                          </a:solidFill>
                          <a:latin typeface="Calibri"/>
                        </a:rPr>
                        <a:t>diversity ↑</a:t>
                      </a:r>
                    </a:p>
                  </a:txBody>
                  <a:tcPr marL="64008" marR="45720" marT="13716" marB="13716" anchor="ctr">
                    <a:solidFill>
                      <a:srgbClr val="1F222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9EAEC"/>
                          </a:solidFill>
                          <a:latin typeface="Calibri"/>
                        </a:rPr>
                        <a:t>SD1.5 (mplex-ft)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9EAEC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9EAEC"/>
                          </a:solidFill>
                          <a:latin typeface="Calibri"/>
                        </a:rPr>
                        <a:t>12.6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6EFAC"/>
                          </a:solidFill>
                          <a:latin typeface="Calibri"/>
                        </a:rPr>
                        <a:t>0.381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</a:tr>
              <a:tr h="27432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9EAEC"/>
                          </a:solidFill>
                          <a:latin typeface="Calibri"/>
                        </a:rPr>
                        <a:t>PixCell-256</a:t>
                      </a:r>
                    </a:p>
                  </a:txBody>
                  <a:tcPr marL="64008" marR="45720" marT="13716" marB="13716" anchor="ctr">
                    <a:solidFill>
                      <a:srgbClr val="0B0C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6EFAC"/>
                          </a:solidFill>
                          <a:latin typeface="Calibri"/>
                        </a:rPr>
                        <a:t>0.346</a:t>
                      </a:r>
                    </a:p>
                  </a:txBody>
                  <a:tcPr marL="64008" marR="45720" marT="13716" marB="13716" anchor="ctr">
                    <a:solidFill>
                      <a:srgbClr val="0B0C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6EFAC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64008" marR="45720" marT="13716" marB="13716" anchor="ctr">
                    <a:solidFill>
                      <a:srgbClr val="0B0C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CA5A5"/>
                          </a:solidFill>
                          <a:latin typeface="Calibri"/>
                        </a:rPr>
                        <a:t>0.259</a:t>
                      </a:r>
                    </a:p>
                  </a:txBody>
                  <a:tcPr marL="64008" marR="45720" marT="13716" marB="13716" anchor="ctr"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Calibri"/>
              </a:rPr>
              <a:t>→ more realistic but </a:t>
            </a:r>
            <a:r>
              <a:rPr sz="1200" b="1">
                <a:solidFill>
                  <a:srgbClr val="FCA5A5"/>
                </a:solidFill>
                <a:latin typeface="Calibri"/>
              </a:rPr>
              <a:t>less diverse</a:t>
            </a:r>
            <a:r>
              <a:rPr sz="1200" b="0">
                <a:solidFill>
                  <a:srgbClr val="9AA0A6"/>
                </a:solidFill>
                <a:latin typeface="Calibri"/>
              </a:rPr>
              <a:t> → downstream not better than SD1.5.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1417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Branching — native 1001px (recipe vs resolution)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45352" y="1737360"/>
          <a:ext cx="54864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/>
                <a:gridCol w="960120"/>
                <a:gridCol w="96012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9EAEC"/>
                          </a:solidFill>
                          <a:latin typeface="Calibri"/>
                        </a:rPr>
                        <a:t>Arm</a:t>
                      </a:r>
                    </a:p>
                  </a:txBody>
                  <a:tcPr marL="64008" marR="45720" marT="13716" marB="13716" anchor="ctr"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9EAEC"/>
                          </a:solidFill>
                          <a:latin typeface="Calibri"/>
                        </a:rPr>
                        <a:t>realism ↓</a:t>
                      </a:r>
                    </a:p>
                  </a:txBody>
                  <a:tcPr marL="64008" marR="45720" marT="13716" marB="13716" anchor="ctr"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9EAEC"/>
                          </a:solidFill>
                          <a:latin typeface="Calibri"/>
                        </a:rPr>
                        <a:t>diversity ↑</a:t>
                      </a:r>
                    </a:p>
                  </a:txBody>
                  <a:tcPr marL="64008" marR="45720" marT="13716" marB="13716" anchor="ctr"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9EAEC"/>
                          </a:solidFill>
                          <a:latin typeface="Calibri"/>
                        </a:rPr>
                        <a:t>CMMD ↓</a:t>
                      </a:r>
                    </a:p>
                  </a:txBody>
                  <a:tcPr marL="64008" marR="45720" marT="13716" marB="13716" anchor="ctr">
                    <a:solidFill>
                      <a:srgbClr val="1F22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9EAEC"/>
                          </a:solidFill>
                          <a:latin typeface="Calibri"/>
                        </a:rPr>
                        <a:t>256 · warm-start (full FT)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9EAEC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CA5A5"/>
                          </a:solidFill>
                          <a:latin typeface="Calibri"/>
                        </a:rPr>
                        <a:t>0.254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9EAEC"/>
                          </a:solidFill>
                          <a:latin typeface="Calibri"/>
                        </a:rPr>
                        <a:t>49.8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9EAEC"/>
                          </a:solidFill>
                          <a:latin typeface="Calibri"/>
                        </a:rPr>
                        <a:t>256 · from-base + LoRA</a:t>
                      </a:r>
                    </a:p>
                  </a:txBody>
                  <a:tcPr marL="64008" marR="45720" marT="13716" marB="13716" anchor="ctr">
                    <a:solidFill>
                      <a:srgbClr val="0B0C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CA5A5"/>
                          </a:solidFill>
                          <a:latin typeface="Calibri"/>
                        </a:rPr>
                        <a:t>0.776</a:t>
                      </a:r>
                    </a:p>
                  </a:txBody>
                  <a:tcPr marL="64008" marR="45720" marT="13716" marB="13716" anchor="ctr">
                    <a:solidFill>
                      <a:srgbClr val="0B0C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6EFAC"/>
                          </a:solidFill>
                          <a:latin typeface="Calibri"/>
                        </a:rPr>
                        <a:t>0.424</a:t>
                      </a:r>
                    </a:p>
                  </a:txBody>
                  <a:tcPr marL="64008" marR="45720" marT="13716" marB="13716" anchor="ctr">
                    <a:solidFill>
                      <a:srgbClr val="0B0C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9EAEC"/>
                          </a:solidFill>
                          <a:latin typeface="Calibri"/>
                        </a:rPr>
                        <a:t>56.3</a:t>
                      </a:r>
                    </a:p>
                  </a:txBody>
                  <a:tcPr marL="64008" marR="45720" marT="13716" marB="13716" anchor="ctr">
                    <a:solidFill>
                      <a:srgbClr val="0B0C0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9EAEC"/>
                          </a:solidFill>
                          <a:latin typeface="Calibri"/>
                        </a:rPr>
                        <a:t>1024 · from-base + LoRA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6EFAC"/>
                          </a:solidFill>
                          <a:latin typeface="Calibri"/>
                        </a:rPr>
                        <a:t>0.599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7DD3FC"/>
                          </a:solidFill>
                          <a:latin typeface="Calibri"/>
                        </a:rPr>
                        <a:t>0.342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9EAEC"/>
                          </a:solidFill>
                          <a:latin typeface="Calibri"/>
                        </a:rPr>
                        <a:t>55.1</a:t>
                      </a:r>
                    </a:p>
                  </a:txBody>
                  <a:tcPr marL="64008" marR="45720" marT="13716" marB="13716" anchor="ctr">
                    <a:solidFill>
                      <a:srgbClr val="14161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45352" y="3127248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86EFAC"/>
                </a:solidFill>
                <a:latin typeface="Calibri"/>
              </a:rPr>
              <a:t>↔ recipe (warm-start→from-base): diversity 0.254→0.424 </a:t>
            </a:r>
            <a:r>
              <a:rPr sz="1150" b="0">
                <a:solidFill>
                  <a:srgbClr val="9AA0A6"/>
                </a:solidFill>
                <a:latin typeface="Calibri"/>
              </a:rPr>
              <a:t>(+div, −realism)</a:t>
            </a:r>
          </a:p>
          <a:p>
            <a:pPr algn="l"/>
            <a:r>
              <a:rPr sz="1150" b="0">
                <a:solidFill>
                  <a:srgbClr val="7DD3FC"/>
                </a:solidFill>
                <a:latin typeface="Calibri"/>
              </a:rPr>
              <a:t>↔ resolution (256→1024): realism 0.776→0.599 </a:t>
            </a:r>
            <a:r>
              <a:rPr sz="1150" b="0">
                <a:solidFill>
                  <a:srgbClr val="9AA0A6"/>
                </a:solidFill>
                <a:latin typeface="Calibri"/>
              </a:rPr>
              <a:t>(+realism, −div)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60520"/>
            <a:ext cx="5486400" cy="868680"/>
          </a:xfrm>
          <a:prstGeom prst="roundRect">
            <a:avLst/>
          </a:prstGeom>
          <a:solidFill>
            <a:srgbClr val="14161B"/>
          </a:solidFill>
          <a:ln w="1587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250" b="1">
                <a:solidFill>
                  <a:srgbClr val="86EFAC"/>
                </a:solidFill>
                <a:latin typeface="Calibri"/>
              </a:rPr>
              <a:t>Diversity lever  =  training recipe</a:t>
            </a:r>
          </a:p>
          <a:p>
            <a:r>
              <a:rPr sz="1100">
                <a:solidFill>
                  <a:srgbClr val="9AA0A6"/>
                </a:solidFill>
                <a:latin typeface="Calibri"/>
              </a:rPr>
              <a:t>Build ControlNet from a neutral base + small LoRA (vs fully fine-tuning a strongly-primed CN). More diverse samples, lower realism.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160520"/>
            <a:ext cx="5486400" cy="868680"/>
          </a:xfrm>
          <a:prstGeom prst="roundRect">
            <a:avLst/>
          </a:prstGeom>
          <a:solidFill>
            <a:srgbClr val="14161B"/>
          </a:solidFill>
          <a:ln w="15875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250" b="1">
                <a:solidFill>
                  <a:srgbClr val="7DD3FC"/>
                </a:solidFill>
                <a:latin typeface="Calibri"/>
              </a:rPr>
              <a:t>Realism lever  =  resolution</a:t>
            </a:r>
          </a:p>
          <a:p>
            <a:r>
              <a:rPr sz="1100">
                <a:solidFill>
                  <a:srgbClr val="9AA0A6"/>
                </a:solidFill>
                <a:latin typeface="Calibri"/>
              </a:rPr>
              <a:t>Higher native resolution gives more realistic samples, at some cost to diversity. Two levers, opposite directions on one tradeoff.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38928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076"/>
                </a:solidFill>
                <a:latin typeface="Calibri"/>
              </a:rPr>
              <a:t>Note: </a:t>
            </a:r>
            <a:r>
              <a:rPr sz="1100" b="0">
                <a:solidFill>
                  <a:srgbClr val="6B7076"/>
                </a:solidFill>
                <a:latin typeface="Calibri"/>
              </a:rPr>
              <a:t>on branching all PixCell arms trail SD1.5 on CMMD (50-56 vs 8.8) — its cell-microscopy prior fits dense branching poorly; on cell-like multiplexed PixCell-256 was the opposite.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15000"/>
            <a:ext cx="11274552" cy="640080"/>
          </a:xfrm>
          <a:prstGeom prst="roundRect">
            <a:avLst/>
          </a:prstGeom>
          <a:solidFill>
            <a:srgbClr val="1F2229"/>
          </a:solidFill>
          <a:ln w="9525">
            <a:solidFill>
              <a:srgbClr val="2A2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7DD3FC"/>
                </a:solidFill>
                <a:latin typeface="Calibri"/>
              </a:rPr>
              <a:t>Recommendation:  </a:t>
            </a:r>
            <a:r>
              <a:rPr sz="1250" b="0">
                <a:solidFill>
                  <a:srgbClr val="E9EAEC"/>
                </a:solidFill>
                <a:latin typeface="Calibri"/>
              </a:rPr>
              <a:t>keep SD1.5 (already from-base, highest diversity we measured). Treat resolution and training-recipe as knobs on the fidelity/diversity tradeoff, not a backbone that breaks the ceiling.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B7076"/>
                </a:solidFill>
                <a:latin typeface="Calibri"/>
              </a:rPr>
              <a:t>↓ lower is better · ↑ higher is better · </a:t>
            </a:r>
            <a:r>
              <a:rPr sz="1000" b="1">
                <a:solidFill>
                  <a:srgbClr val="86EFAC"/>
                </a:solidFill>
                <a:latin typeface="Calibri"/>
              </a:rPr>
              <a:t>green</a:t>
            </a:r>
            <a:r>
              <a:rPr sz="1000" b="0">
                <a:solidFill>
                  <a:srgbClr val="6B7076"/>
                </a:solidFill>
                <a:latin typeface="Calibri"/>
              </a:rPr>
              <a:t> good / </a:t>
            </a:r>
            <a:r>
              <a:rPr sz="1000" b="1">
                <a:solidFill>
                  <a:srgbClr val="FCA5A5"/>
                </a:solidFill>
                <a:latin typeface="Calibri"/>
              </a:rPr>
              <a:t>coral</a:t>
            </a:r>
            <a:r>
              <a:rPr sz="1000" b="0">
                <a:solidFill>
                  <a:srgbClr val="6B7076"/>
                </a:solidFill>
                <a:latin typeface="Calibri"/>
              </a:rPr>
              <a:t> caution · all copy_rate = 0 (no memorization)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